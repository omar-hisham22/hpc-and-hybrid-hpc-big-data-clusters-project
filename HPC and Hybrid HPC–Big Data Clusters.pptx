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ton" charset="1" panose="00000500000000000000"/>
      <p:regular r:id="rId19"/>
    </p:embeddedFont>
    <p:embeddedFont>
      <p:font typeface="Canva Sans" charset="1" panose="020B0503030501040103"/>
      <p:regular r:id="rId20"/>
    </p:embeddedFont>
    <p:embeddedFont>
      <p:font typeface="Montserrat" charset="1" panose="00000500000000000000"/>
      <p:regular r:id="rId21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svg" Type="http://schemas.openxmlformats.org/officeDocument/2006/relationships/image"/><Relationship Id="rId4" Target="../media/aAHLop4AP_4.m4a" Type="http://schemas.microsoft.com/office/2007/relationships/media"/><Relationship Id="rId5" Target="../media/aAHLop4AP_4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3947" y="5828034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7" y="0"/>
                </a:lnTo>
                <a:lnTo>
                  <a:pt x="19157227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6342" y="3036906"/>
            <a:ext cx="13421288" cy="236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38"/>
              </a:lnSpc>
            </a:pPr>
            <a:r>
              <a:rPr lang="en-US" sz="6738" spc="101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HPC AND HYBRID HPC–BIG DATA CLUSTERS </a:t>
            </a:r>
          </a:p>
          <a:p>
            <a:pPr algn="r">
              <a:lnSpc>
                <a:spcPts val="111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097081" y="5697855"/>
            <a:ext cx="3028652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Supervised by: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 Dr. Mohamed Elsayeh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86350"/>
            <a:ext cx="557316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Prepared by: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Omar Hisham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 Soha Yehia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Mohamed Ashour</a:t>
            </a:r>
          </a:p>
        </p:txBody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6"/>
                </p:tgtEl>
              </p:cBhvr>
            </p:cmd>
            <p:audio>
              <p:cMediaNode vol="100000" showWhenStopped="false">
                <p:cTn/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245" y="857956"/>
            <a:ext cx="10624089" cy="187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39"/>
              </a:lnSpc>
            </a:pPr>
            <a:r>
              <a:rPr lang="en-US" sz="14039" spc="-19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692" y="2671846"/>
            <a:ext cx="16147124" cy="6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 spc="-16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High-Performance Computing (HPC) and Big Data technologies are essential for processing large-scale computational workloads.</a:t>
            </a:r>
          </a:p>
          <a:p>
            <a:pPr algn="l">
              <a:lnSpc>
                <a:spcPts val="3661"/>
              </a:lnSpc>
            </a:pPr>
          </a:p>
          <a:p>
            <a:pPr algn="l">
              <a:lnSpc>
                <a:spcPts val="4221"/>
              </a:lnSpc>
            </a:pPr>
            <a:r>
              <a:rPr lang="en-US" sz="3015" spc="-15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This project combines: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HPC using MPI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Big Data processing using Apache Spark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Docker Swarm orchestration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 gene expression analysis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The goal was to build a distributed environment capable of running machine learning workloads efficiently across multiple nodes.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3743" y="363047"/>
            <a:ext cx="6433344" cy="3498768"/>
            <a:chOff x="0" y="0"/>
            <a:chExt cx="1995698" cy="108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698" cy="1085359"/>
            </a:xfrm>
            <a:custGeom>
              <a:avLst/>
              <a:gdLst/>
              <a:ahLst/>
              <a:cxnLst/>
              <a:rect r="r" b="b" t="t" l="l"/>
              <a:pathLst>
                <a:path h="1085359" w="1995698">
                  <a:moveTo>
                    <a:pt x="0" y="0"/>
                  </a:moveTo>
                  <a:lnTo>
                    <a:pt x="1995698" y="0"/>
                  </a:lnTo>
                  <a:lnTo>
                    <a:pt x="1995698" y="1085359"/>
                  </a:lnTo>
                  <a:lnTo>
                    <a:pt x="0" y="1085359"/>
                  </a:lnTo>
                  <a:close/>
                </a:path>
              </a:pathLst>
            </a:custGeom>
            <a:solidFill>
              <a:srgbClr val="FFF8D4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95698" cy="112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4005" y="847224"/>
            <a:ext cx="5629144" cy="3750417"/>
          </a:xfrm>
          <a:custGeom>
            <a:avLst/>
            <a:gdLst/>
            <a:ahLst/>
            <a:cxnLst/>
            <a:rect r="r" b="b" t="t" l="l"/>
            <a:pathLst>
              <a:path h="3750417" w="5629144">
                <a:moveTo>
                  <a:pt x="0" y="0"/>
                </a:moveTo>
                <a:lnTo>
                  <a:pt x="5629143" y="0"/>
                </a:lnTo>
                <a:lnTo>
                  <a:pt x="5629143" y="3750417"/>
                </a:lnTo>
                <a:lnTo>
                  <a:pt x="0" y="3750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854" y="709287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060" y="2055282"/>
            <a:ext cx="13237945" cy="754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a 3-node clus</a:t>
            </a: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 using VirtualBox.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Configure networking and SSH communication.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 distributed computing using MPI.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Apache Spark using Docker Swarm.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Execute distributed machine learning tasks.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 bioinformatics gene expression datasets.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3743" y="363047"/>
            <a:ext cx="6433344" cy="3498768"/>
            <a:chOff x="0" y="0"/>
            <a:chExt cx="1995698" cy="108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698" cy="1085359"/>
            </a:xfrm>
            <a:custGeom>
              <a:avLst/>
              <a:gdLst/>
              <a:ahLst/>
              <a:cxnLst/>
              <a:rect r="r" b="b" t="t" l="l"/>
              <a:pathLst>
                <a:path h="1085359" w="1995698">
                  <a:moveTo>
                    <a:pt x="0" y="0"/>
                  </a:moveTo>
                  <a:lnTo>
                    <a:pt x="1995698" y="0"/>
                  </a:lnTo>
                  <a:lnTo>
                    <a:pt x="1995698" y="1085359"/>
                  </a:lnTo>
                  <a:lnTo>
                    <a:pt x="0" y="1085359"/>
                  </a:lnTo>
                  <a:close/>
                </a:path>
              </a:pathLst>
            </a:custGeom>
            <a:solidFill>
              <a:srgbClr val="FFF8D4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95698" cy="112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4005" y="847224"/>
            <a:ext cx="5629144" cy="3750417"/>
          </a:xfrm>
          <a:custGeom>
            <a:avLst/>
            <a:gdLst/>
            <a:ahLst/>
            <a:cxnLst/>
            <a:rect r="r" b="b" t="t" l="l"/>
            <a:pathLst>
              <a:path h="3750417" w="5629144">
                <a:moveTo>
                  <a:pt x="0" y="0"/>
                </a:moveTo>
                <a:lnTo>
                  <a:pt x="5629143" y="0"/>
                </a:lnTo>
                <a:lnTo>
                  <a:pt x="5629143" y="3750417"/>
                </a:lnTo>
                <a:lnTo>
                  <a:pt x="0" y="3750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5638626"/>
          <a:ext cx="7315200" cy="30956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Cluster Manager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Worker1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Compute 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Worker1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9854" y="709287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64807"/>
            <a:ext cx="7315200" cy="345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</a:t>
            </a: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 Architecture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 Node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Node 1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Node 2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2175" y="-342925"/>
            <a:ext cx="3086100" cy="1083277"/>
            <a:chOff x="0" y="0"/>
            <a:chExt cx="812800" cy="2853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5308"/>
            </a:xfrm>
            <a:custGeom>
              <a:avLst/>
              <a:gdLst/>
              <a:ahLst/>
              <a:cxnLst/>
              <a:rect r="r" b="b" t="t" l="l"/>
              <a:pathLst>
                <a:path h="28530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5308"/>
                  </a:lnTo>
                  <a:lnTo>
                    <a:pt x="0" y="285308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23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66531" y="728279"/>
            <a:ext cx="3878694" cy="6100692"/>
            <a:chOff x="0" y="0"/>
            <a:chExt cx="1083475" cy="1704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3475" cy="1704168"/>
            </a:xfrm>
            <a:custGeom>
              <a:avLst/>
              <a:gdLst/>
              <a:ahLst/>
              <a:cxnLst/>
              <a:rect r="r" b="b" t="t" l="l"/>
              <a:pathLst>
                <a:path h="1704168" w="1083475">
                  <a:moveTo>
                    <a:pt x="0" y="0"/>
                  </a:moveTo>
                  <a:lnTo>
                    <a:pt x="1083475" y="0"/>
                  </a:lnTo>
                  <a:lnTo>
                    <a:pt x="1083475" y="1704168"/>
                  </a:lnTo>
                  <a:lnTo>
                    <a:pt x="0" y="1704168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83475" cy="1742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4687558" y="5663892"/>
            <a:ext cx="3600442" cy="5400663"/>
          </a:xfrm>
          <a:custGeom>
            <a:avLst/>
            <a:gdLst/>
            <a:ahLst/>
            <a:cxnLst/>
            <a:rect r="r" b="b" t="t" l="l"/>
            <a:pathLst>
              <a:path h="5400663" w="3600442">
                <a:moveTo>
                  <a:pt x="3600442" y="0"/>
                </a:moveTo>
                <a:lnTo>
                  <a:pt x="0" y="0"/>
                </a:lnTo>
                <a:lnTo>
                  <a:pt x="0" y="5400663"/>
                </a:lnTo>
                <a:lnTo>
                  <a:pt x="3600442" y="5400663"/>
                </a:lnTo>
                <a:lnTo>
                  <a:pt x="360044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59300" y="6819447"/>
            <a:ext cx="3086100" cy="4097788"/>
            <a:chOff x="0" y="0"/>
            <a:chExt cx="812800" cy="10792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79253"/>
            </a:xfrm>
            <a:custGeom>
              <a:avLst/>
              <a:gdLst/>
              <a:ahLst/>
              <a:cxnLst/>
              <a:rect r="r" b="b" t="t" l="l"/>
              <a:pathLst>
                <a:path h="10792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9253"/>
                  </a:lnTo>
                  <a:lnTo>
                    <a:pt x="0" y="1079253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117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68768" y="728279"/>
            <a:ext cx="6437579" cy="4828184"/>
          </a:xfrm>
          <a:custGeom>
            <a:avLst/>
            <a:gdLst/>
            <a:ahLst/>
            <a:cxnLst/>
            <a:rect r="r" b="b" t="t" l="l"/>
            <a:pathLst>
              <a:path h="4828184" w="6437579">
                <a:moveTo>
                  <a:pt x="0" y="0"/>
                </a:moveTo>
                <a:lnTo>
                  <a:pt x="6437579" y="0"/>
                </a:lnTo>
                <a:lnTo>
                  <a:pt x="6437579" y="4828184"/>
                </a:lnTo>
                <a:lnTo>
                  <a:pt x="0" y="482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7077" y="501770"/>
            <a:ext cx="106240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6000" spc="-84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NETWORK AND SSH SETUP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7077" y="2392768"/>
            <a:ext cx="9723438" cy="647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4"/>
              </a:lnSpc>
            </a:pPr>
            <a:r>
              <a:rPr lang="en-US" sz="3739" spc="-186" b="true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Setup</a:t>
            </a:r>
          </a:p>
          <a:p>
            <a:pPr algn="l">
              <a:lnSpc>
                <a:spcPts val="5234"/>
              </a:lnSpc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Completed Tasks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Installed Ubuntu 24.04 on all VMs.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Configured static IP addresses.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Configured Host-Only Adapter networking.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Added hostnames and hosts file entries.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Enabled passwordless SSH communication.</a:t>
            </a:r>
          </a:p>
          <a:p>
            <a:pPr algn="l">
              <a:lnSpc>
                <a:spcPts val="523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1795" y="581278"/>
            <a:ext cx="6144879" cy="2852242"/>
            <a:chOff x="0" y="0"/>
            <a:chExt cx="175109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41320" y="5054278"/>
            <a:ext cx="6144879" cy="2852242"/>
            <a:chOff x="0" y="0"/>
            <a:chExt cx="17510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776" y="352545"/>
            <a:ext cx="1062408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6999" spc="-97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TASK 1 – MPI CLUSTER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76" y="1588224"/>
            <a:ext cx="16256976" cy="837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MPI-Based</a:t>
            </a: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Distributed Computing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Tools Used: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OpenMPI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mpi4py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Cluster Resources: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3 Nodes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6 MPI Processes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Execution Command: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mpirun -np 6 --hostfile hostfile python3 distributed_gene_analysis.py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Insert MPI execution screenshot.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3485024" y="1163269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94046"/>
            <a:ext cx="1098464" cy="1152968"/>
          </a:xfrm>
          <a:custGeom>
            <a:avLst/>
            <a:gdLst/>
            <a:ahLst/>
            <a:cxnLst/>
            <a:rect r="r" b="b" t="t" l="l"/>
            <a:pathLst>
              <a:path h="1152968" w="1098464">
                <a:moveTo>
                  <a:pt x="0" y="0"/>
                </a:moveTo>
                <a:lnTo>
                  <a:pt x="1098464" y="0"/>
                </a:lnTo>
                <a:lnTo>
                  <a:pt x="1098464" y="1152968"/>
                </a:lnTo>
                <a:lnTo>
                  <a:pt x="0" y="1152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2032" y="9181952"/>
            <a:ext cx="1345968" cy="1105048"/>
          </a:xfrm>
          <a:custGeom>
            <a:avLst/>
            <a:gdLst/>
            <a:ahLst/>
            <a:cxnLst/>
            <a:rect r="r" b="b" t="t" l="l"/>
            <a:pathLst>
              <a:path h="1105048" w="1345968">
                <a:moveTo>
                  <a:pt x="0" y="0"/>
                </a:moveTo>
                <a:lnTo>
                  <a:pt x="1345968" y="0"/>
                </a:lnTo>
                <a:lnTo>
                  <a:pt x="1345968" y="1105048"/>
                </a:lnTo>
                <a:lnTo>
                  <a:pt x="0" y="1105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9551" y="1666878"/>
            <a:ext cx="9270991" cy="6953243"/>
          </a:xfrm>
          <a:custGeom>
            <a:avLst/>
            <a:gdLst/>
            <a:ahLst/>
            <a:cxnLst/>
            <a:rect r="r" b="b" t="t" l="l"/>
            <a:pathLst>
              <a:path h="6953243" w="9270991">
                <a:moveTo>
                  <a:pt x="0" y="0"/>
                </a:moveTo>
                <a:lnTo>
                  <a:pt x="9270992" y="0"/>
                </a:lnTo>
                <a:lnTo>
                  <a:pt x="9270992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520" y="271945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MPI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253" y="1981922"/>
            <a:ext cx="8760815" cy="701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Distributed</a:t>
            </a: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Processing Results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Workload was distributed across six MPI processes.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Parallel execution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Faster processing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Efficient resource utilization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Results: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Successful execution across all nodes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Correct process communication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Reduced execution time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2471" y="5669154"/>
            <a:ext cx="1853658" cy="2002971"/>
          </a:xfrm>
          <a:custGeom>
            <a:avLst/>
            <a:gdLst/>
            <a:ahLst/>
            <a:cxnLst/>
            <a:rect r="r" b="b" t="t" l="l"/>
            <a:pathLst>
              <a:path h="2002971" w="1853658">
                <a:moveTo>
                  <a:pt x="0" y="0"/>
                </a:moveTo>
                <a:lnTo>
                  <a:pt x="1853658" y="0"/>
                </a:lnTo>
                <a:lnTo>
                  <a:pt x="1853658" y="2002971"/>
                </a:lnTo>
                <a:lnTo>
                  <a:pt x="0" y="200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05265" y="8081783"/>
            <a:ext cx="2167679" cy="1998206"/>
          </a:xfrm>
          <a:custGeom>
            <a:avLst/>
            <a:gdLst/>
            <a:ahLst/>
            <a:cxnLst/>
            <a:rect r="r" b="b" t="t" l="l"/>
            <a:pathLst>
              <a:path h="1998206" w="2167679">
                <a:moveTo>
                  <a:pt x="0" y="0"/>
                </a:moveTo>
                <a:lnTo>
                  <a:pt x="2167679" y="0"/>
                </a:lnTo>
                <a:lnTo>
                  <a:pt x="2167679" y="1998206"/>
                </a:lnTo>
                <a:lnTo>
                  <a:pt x="0" y="1998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166" y="8227931"/>
            <a:ext cx="1967069" cy="2060739"/>
          </a:xfrm>
          <a:custGeom>
            <a:avLst/>
            <a:gdLst/>
            <a:ahLst/>
            <a:cxnLst/>
            <a:rect r="r" b="b" t="t" l="l"/>
            <a:pathLst>
              <a:path h="2060739" w="1967069">
                <a:moveTo>
                  <a:pt x="0" y="0"/>
                </a:moveTo>
                <a:lnTo>
                  <a:pt x="1967068" y="0"/>
                </a:lnTo>
                <a:lnTo>
                  <a:pt x="1967068" y="2060738"/>
                </a:lnTo>
                <a:lnTo>
                  <a:pt x="0" y="2060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72944" y="7874772"/>
            <a:ext cx="3615056" cy="2412228"/>
          </a:xfrm>
          <a:custGeom>
            <a:avLst/>
            <a:gdLst/>
            <a:ahLst/>
            <a:cxnLst/>
            <a:rect r="r" b="b" t="t" l="l"/>
            <a:pathLst>
              <a:path h="2412228" w="3615056">
                <a:moveTo>
                  <a:pt x="0" y="0"/>
                </a:moveTo>
                <a:lnTo>
                  <a:pt x="3615056" y="0"/>
                </a:lnTo>
                <a:lnTo>
                  <a:pt x="3615056" y="2412228"/>
                </a:lnTo>
                <a:lnTo>
                  <a:pt x="0" y="2412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4516" y="545234"/>
            <a:ext cx="1062408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6999" spc="-97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TASK 2 – SPARK CLUSTER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239" y="1716975"/>
            <a:ext cx="11950749" cy="605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b="true" sz="2683" spc="-134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Hybrid HPC + Big D</a:t>
            </a:r>
            <a:r>
              <a:rPr lang="en-US" b="true" sz="2683" spc="-134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 Cluster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Technologies: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Docker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Docker Swarm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Apache Spark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Cluster Components: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Master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Worker 1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Worker 2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The cluster was deployed successfully and workers were registered through Spark Web UI.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921057" y="-2231183"/>
            <a:ext cx="2005139" cy="6330707"/>
            <a:chOff x="0" y="0"/>
            <a:chExt cx="528102" cy="1667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8103" cy="1667347"/>
            </a:xfrm>
            <a:custGeom>
              <a:avLst/>
              <a:gdLst/>
              <a:ahLst/>
              <a:cxnLst/>
              <a:rect r="r" b="b" t="t" l="l"/>
              <a:pathLst>
                <a:path h="1667347" w="528103">
                  <a:moveTo>
                    <a:pt x="0" y="0"/>
                  </a:moveTo>
                  <a:lnTo>
                    <a:pt x="528103" y="0"/>
                  </a:lnTo>
                  <a:lnTo>
                    <a:pt x="528103" y="1667347"/>
                  </a:lnTo>
                  <a:lnTo>
                    <a:pt x="0" y="1667347"/>
                  </a:lnTo>
                  <a:close/>
                </a:path>
              </a:pathLst>
            </a:custGeom>
            <a:solidFill>
              <a:srgbClr val="0C0C0C">
                <a:alpha val="7098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8102" cy="1705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1795" y="581278"/>
            <a:ext cx="6144879" cy="2852242"/>
            <a:chOff x="0" y="0"/>
            <a:chExt cx="175109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41320" y="5054278"/>
            <a:ext cx="6144879" cy="2852242"/>
            <a:chOff x="0" y="0"/>
            <a:chExt cx="17510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94234" y="733678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BIOINFORMATICS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05388"/>
            <a:ext cx="9368312" cy="730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Gene Expression Analysis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Dataset: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leukemia_expression.csv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Framework: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PySpark ML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Tasks Performed: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Data loading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processing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analysis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workflow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3485024" y="1163269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887891" y="5663855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9281" y="816079"/>
            <a:ext cx="8291485" cy="6218614"/>
          </a:xfrm>
          <a:custGeom>
            <a:avLst/>
            <a:gdLst/>
            <a:ahLst/>
            <a:cxnLst/>
            <a:rect r="r" b="b" t="t" l="l"/>
            <a:pathLst>
              <a:path h="6218614" w="8291485">
                <a:moveTo>
                  <a:pt x="0" y="0"/>
                </a:moveTo>
                <a:lnTo>
                  <a:pt x="8291485" y="0"/>
                </a:lnTo>
                <a:lnTo>
                  <a:pt x="8291485" y="6218613"/>
                </a:lnTo>
                <a:lnTo>
                  <a:pt x="0" y="6218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6397" y="978004"/>
            <a:ext cx="1062408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000"/>
              </a:lnSpc>
            </a:pPr>
            <a:r>
              <a:rPr lang="en-US" sz="9000" spc="-12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SPARK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6397" y="2492275"/>
            <a:ext cx="10233006" cy="410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luster Resources: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2 Worker Nodes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4 CPU Cores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4 GB RAM</a:t>
            </a:r>
          </a:p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Achievements: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Successful worker registration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execution completed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Gene expression analysis performed successfully</a:t>
            </a:r>
          </a:p>
          <a:p>
            <a:pPr algn="l">
              <a:lnSpc>
                <a:spcPts val="367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69027"/>
            <a:ext cx="1062408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</a:pPr>
            <a:r>
              <a:rPr lang="en-US" sz="5000" spc="-70">
                <a:solidFill>
                  <a:srgbClr val="FFF8D4">
                    <a:alpha val="70980"/>
                  </a:srgbClr>
                </a:solidFill>
                <a:latin typeface="Anton"/>
                <a:ea typeface="Anton"/>
                <a:cs typeface="Anton"/>
                <a:sym typeface="Anton"/>
              </a:rPr>
              <a:t>CHALLENGES ENCOUNTERED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63824" y="7767519"/>
            <a:ext cx="2324176" cy="1884696"/>
          </a:xfrm>
          <a:custGeom>
            <a:avLst/>
            <a:gdLst/>
            <a:ahLst/>
            <a:cxnLst/>
            <a:rect r="r" b="b" t="t" l="l"/>
            <a:pathLst>
              <a:path h="1884696" w="2324176">
                <a:moveTo>
                  <a:pt x="0" y="0"/>
                </a:moveTo>
                <a:lnTo>
                  <a:pt x="2324176" y="0"/>
                </a:lnTo>
                <a:lnTo>
                  <a:pt x="2324176" y="1884696"/>
                </a:lnTo>
                <a:lnTo>
                  <a:pt x="0" y="188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2918" y="2838952"/>
          <a:ext cx="8601082" cy="6496050"/>
        </p:xfrm>
        <a:graphic>
          <a:graphicData uri="http://schemas.openxmlformats.org/drawingml/2006/table">
            <a:tbl>
              <a:tblPr/>
              <a:tblGrid>
                <a:gridCol w="5201589"/>
                <a:gridCol w="3399493"/>
              </a:tblGrid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Network communication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Configured static 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SSH connection refused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Enabled SSH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MPI package errors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Installed dependencies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Docker startup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Removed conflicting installation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Spark worker connection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Updated firewall and networking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PySpark dependency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Installed packages inside containers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742331" y="864863"/>
            <a:ext cx="106240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6000" spc="-84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CHALLENGES AND SOLUTIONS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0515" y="-266321"/>
            <a:ext cx="3086100" cy="11322717"/>
            <a:chOff x="0" y="0"/>
            <a:chExt cx="812800" cy="2982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82115"/>
            </a:xfrm>
            <a:custGeom>
              <a:avLst/>
              <a:gdLst/>
              <a:ahLst/>
              <a:cxnLst/>
              <a:rect r="r" b="b" t="t" l="l"/>
              <a:pathLst>
                <a:path h="298211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82115"/>
                  </a:lnTo>
                  <a:lnTo>
                    <a:pt x="0" y="2982115"/>
                  </a:lnTo>
                  <a:close/>
                </a:path>
              </a:pathLst>
            </a:custGeom>
            <a:solidFill>
              <a:srgbClr val="FFF8D4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02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57894" y="-1198743"/>
            <a:ext cx="7821455" cy="11721527"/>
          </a:xfrm>
          <a:custGeom>
            <a:avLst/>
            <a:gdLst/>
            <a:ahLst/>
            <a:cxnLst/>
            <a:rect r="r" b="b" t="t" l="l"/>
            <a:pathLst>
              <a:path h="11721527" w="7821455">
                <a:moveTo>
                  <a:pt x="0" y="0"/>
                </a:moveTo>
                <a:lnTo>
                  <a:pt x="7821455" y="0"/>
                </a:lnTo>
                <a:lnTo>
                  <a:pt x="7821455" y="11721526"/>
                </a:lnTo>
                <a:lnTo>
                  <a:pt x="0" y="11721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81120"/>
            <a:ext cx="7639050" cy="626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Thi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 project successfully implemented: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 traditional HPC cluster using MPI.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 Hyb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rid HPC–Big Data cluster using Spark.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stributed machine learning workflows.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 gene expression analysis.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The project provided practical experience in: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HPC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Computing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Apache Spark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Docker Swarm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4516" y="928442"/>
            <a:ext cx="10624089" cy="187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39"/>
              </a:lnSpc>
            </a:pPr>
            <a:r>
              <a:rPr lang="en-US" sz="14039" spc="-19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9360" y="3949913"/>
            <a:ext cx="9812133" cy="241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11"/>
              </a:lnSpc>
            </a:pPr>
            <a:r>
              <a:rPr lang="en-US" sz="18011" spc="27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DAHLoCuWkU4</dc:identifier>
  <dcterms:modified xsi:type="dcterms:W3CDTF">2011-08-01T06:04:30Z</dcterms:modified>
  <cp:revision>1</cp:revision>
  <dc:title>Black and Yellow Typographic Data Analyst Presentation</dc:title>
</cp:coreProperties>
</file>