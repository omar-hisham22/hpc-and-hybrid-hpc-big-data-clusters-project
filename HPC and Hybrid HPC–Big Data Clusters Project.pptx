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udio/m4a" Extension="m4a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Anton" charset="1" panose="00000500000000000000"/>
      <p:regular r:id="rId19"/>
    </p:embeddedFont>
    <p:embeddedFont>
      <p:font typeface="Canva Sans" charset="1" panose="020B0503030501040103"/>
      <p:regular r:id="rId20"/>
    </p:embeddedFont>
    <p:embeddedFont>
      <p:font typeface="Montserrat" charset="1" panose="00000500000000000000"/>
      <p:regular r:id="rId21"/>
    </p:embeddedFont>
    <p:embeddedFont>
      <p:font typeface="Montserrat Bold" charset="1" panose="000008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2.svg" Type="http://schemas.openxmlformats.org/officeDocument/2006/relationships/image"/><Relationship Id="rId4" Target="../media/aAHLop4AP_4.m4a" Type="http://schemas.microsoft.com/office/2007/relationships/media"/><Relationship Id="rId5" Target="../media/aAHLop4AP_4.m4a" Type="http://schemas.openxmlformats.org/officeDocument/2006/relationships/audio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15.png" Type="http://schemas.openxmlformats.org/officeDocument/2006/relationships/image"/><Relationship Id="rId7" Target="../media/image16.svg" Type="http://schemas.openxmlformats.org/officeDocument/2006/relationships/image"/><Relationship Id="rId8" Target="../media/image17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1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34613" y="5967916"/>
            <a:ext cx="19157227" cy="4319084"/>
          </a:xfrm>
          <a:custGeom>
            <a:avLst/>
            <a:gdLst/>
            <a:ahLst/>
            <a:cxnLst/>
            <a:rect r="r" b="b" t="t" l="l"/>
            <a:pathLst>
              <a:path h="4319084" w="19157227">
                <a:moveTo>
                  <a:pt x="0" y="0"/>
                </a:moveTo>
                <a:lnTo>
                  <a:pt x="19157226" y="0"/>
                </a:lnTo>
                <a:lnTo>
                  <a:pt x="19157226" y="4319084"/>
                </a:lnTo>
                <a:lnTo>
                  <a:pt x="0" y="43190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8000"/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976342" y="3036906"/>
            <a:ext cx="13421288" cy="2361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738"/>
              </a:lnSpc>
            </a:pPr>
            <a:r>
              <a:rPr lang="en-US" sz="6738" spc="101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HPC AND HYBRID HPC–BIG DATA CLUSTERS </a:t>
            </a:r>
          </a:p>
          <a:p>
            <a:pPr algn="r">
              <a:lnSpc>
                <a:spcPts val="11181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1916195" y="5214729"/>
            <a:ext cx="3854500" cy="976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Supervised by: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 Dr. Mohamed Elsayeh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086350"/>
            <a:ext cx="5573167" cy="1967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Prepared by: 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Omar Hisham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 Soha Yehia</a:t>
            </a:r>
          </a:p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8D4"/>
                </a:solidFill>
                <a:latin typeface="Canva Sans"/>
                <a:ea typeface="Canva Sans"/>
                <a:cs typeface="Canva Sans"/>
                <a:sym typeface="Canva Sans"/>
              </a:rPr>
              <a:t>Mohamed Ashour</a:t>
            </a:r>
          </a:p>
        </p:txBody>
      </p:sp>
      <p:pic>
        <p:nvPicPr>
          <p:cNvPr name="Picture 6" id="6">
            <a:hlinkClick action="ppaction://media"/>
          </p:cNvPr>
          <p:cNvPicPr>
            <a:picLocks noChangeAspect="true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629650" y="4629150"/>
            <a:ext cx="1028700" cy="1028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cmd cmd="playFrom(0.0)">
              <p:cBhvr>
                <p:cTn/>
                <p:tgtEl>
                  <p:spTgt spid="6"/>
                </p:tgtEl>
              </p:cBhvr>
            </p:cmd>
            <p:audio>
              <p:cMediaNode vol="100000" showWhenStopped="false">
                <p:cTn/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4245" y="857956"/>
            <a:ext cx="10624089" cy="1871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4039"/>
              </a:lnSpc>
            </a:pPr>
            <a:r>
              <a:rPr lang="en-US" sz="14039" spc="-196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INTRODUCTION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77692" y="2671846"/>
            <a:ext cx="16147124" cy="6706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 spc="-165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High-Performance Computing (HPC) and Big Data technologies are essential for processing large-scale computational workloads.</a:t>
            </a:r>
          </a:p>
          <a:p>
            <a:pPr algn="l">
              <a:lnSpc>
                <a:spcPts val="3661"/>
              </a:lnSpc>
            </a:pPr>
          </a:p>
          <a:p>
            <a:pPr algn="l">
              <a:lnSpc>
                <a:spcPts val="4221"/>
              </a:lnSpc>
            </a:pPr>
            <a:r>
              <a:rPr lang="en-US" sz="3015" spc="-15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This project combines:</a:t>
            </a:r>
          </a:p>
          <a:p>
            <a:pPr algn="l">
              <a:lnSpc>
                <a:spcPts val="3661"/>
              </a:lnSpc>
              <a:spcBef>
                <a:spcPct val="0"/>
              </a:spcBef>
            </a:pPr>
          </a:p>
          <a:p>
            <a:pPr algn="l" marL="564589" indent="-282294" lvl="1">
              <a:lnSpc>
                <a:spcPts val="3661"/>
              </a:lnSpc>
              <a:spcBef>
                <a:spcPct val="0"/>
              </a:spcBef>
              <a:buFont typeface="Arial"/>
              <a:buChar char="•"/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HPC using MPI</a:t>
            </a:r>
          </a:p>
          <a:p>
            <a:pPr algn="l" marL="564589" indent="-282294" lvl="1">
              <a:lnSpc>
                <a:spcPts val="3661"/>
              </a:lnSpc>
              <a:spcBef>
                <a:spcPct val="0"/>
              </a:spcBef>
              <a:buFont typeface="Arial"/>
              <a:buChar char="•"/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Big Data processing using Apache Spark</a:t>
            </a:r>
          </a:p>
          <a:p>
            <a:pPr algn="l" marL="564589" indent="-282294" lvl="1">
              <a:lnSpc>
                <a:spcPts val="3661"/>
              </a:lnSpc>
              <a:spcBef>
                <a:spcPct val="0"/>
              </a:spcBef>
              <a:buFont typeface="Arial"/>
              <a:buChar char="•"/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Docker Swarm orchestration</a:t>
            </a:r>
          </a:p>
          <a:p>
            <a:pPr algn="l" marL="564589" indent="-282294" lvl="1">
              <a:lnSpc>
                <a:spcPts val="3661"/>
              </a:lnSpc>
              <a:spcBef>
                <a:spcPct val="0"/>
              </a:spcBef>
              <a:buFont typeface="Arial"/>
              <a:buChar char="•"/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Bioinformatics gene expression analysis</a:t>
            </a:r>
          </a:p>
          <a:p>
            <a:pPr algn="l">
              <a:lnSpc>
                <a:spcPts val="3661"/>
              </a:lnSpc>
              <a:spcBef>
                <a:spcPct val="0"/>
              </a:spcBef>
            </a:pPr>
          </a:p>
          <a:p>
            <a:pPr algn="l">
              <a:lnSpc>
                <a:spcPts val="3661"/>
              </a:lnSpc>
              <a:spcBef>
                <a:spcPct val="0"/>
              </a:spcBef>
            </a:pPr>
            <a:r>
              <a:rPr lang="en-US" sz="2615" spc="-13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The goal was to build a distributed environment capable of running machine learning workloads efficiently across multiple nodes.</a:t>
            </a:r>
          </a:p>
          <a:p>
            <a:pPr algn="l">
              <a:lnSpc>
                <a:spcPts val="3661"/>
              </a:lnSpc>
              <a:spcBef>
                <a:spcPct val="0"/>
              </a:spcBef>
            </a:pPr>
          </a:p>
          <a:p>
            <a:pPr algn="l">
              <a:lnSpc>
                <a:spcPts val="3661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943743" y="363047"/>
            <a:ext cx="6433344" cy="3498768"/>
            <a:chOff x="0" y="0"/>
            <a:chExt cx="1995698" cy="10853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95698" cy="1085359"/>
            </a:xfrm>
            <a:custGeom>
              <a:avLst/>
              <a:gdLst/>
              <a:ahLst/>
              <a:cxnLst/>
              <a:rect r="r" b="b" t="t" l="l"/>
              <a:pathLst>
                <a:path h="1085359" w="1995698">
                  <a:moveTo>
                    <a:pt x="0" y="0"/>
                  </a:moveTo>
                  <a:lnTo>
                    <a:pt x="1995698" y="0"/>
                  </a:lnTo>
                  <a:lnTo>
                    <a:pt x="1995698" y="1085359"/>
                  </a:lnTo>
                  <a:lnTo>
                    <a:pt x="0" y="1085359"/>
                  </a:lnTo>
                  <a:close/>
                </a:path>
              </a:pathLst>
            </a:custGeom>
            <a:solidFill>
              <a:srgbClr val="FFF8D4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995698" cy="112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494005" y="847224"/>
            <a:ext cx="5629144" cy="3750417"/>
          </a:xfrm>
          <a:custGeom>
            <a:avLst/>
            <a:gdLst/>
            <a:ahLst/>
            <a:cxnLst/>
            <a:rect r="r" b="b" t="t" l="l"/>
            <a:pathLst>
              <a:path h="3750417" w="5629144">
                <a:moveTo>
                  <a:pt x="0" y="0"/>
                </a:moveTo>
                <a:lnTo>
                  <a:pt x="5629143" y="0"/>
                </a:lnTo>
                <a:lnTo>
                  <a:pt x="5629143" y="3750417"/>
                </a:lnTo>
                <a:lnTo>
                  <a:pt x="0" y="37504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0000"/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49854" y="709287"/>
            <a:ext cx="10624089" cy="106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000"/>
              </a:lnSpc>
            </a:pPr>
            <a:r>
              <a:rPr lang="en-US" sz="8000" spc="-112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PROJECT OBJECTIVES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56060" y="2055282"/>
            <a:ext cx="13237945" cy="7549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Build a 3-node clus</a:t>
            </a: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ter using VirtualBox.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Configure networking and SSH communication.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 distributed computing using MPI.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Deploy Apache Spark using Docker Swarm.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Execute distributed machine learning tasks.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 marL="717160" indent="-358580" lvl="1">
              <a:lnSpc>
                <a:spcPts val="465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321" spc="-166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Analyze bioinformatics gene expression datasets.</a:t>
            </a: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  <a:p>
            <a:pPr algn="l">
              <a:lnSpc>
                <a:spcPts val="465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943743" y="363047"/>
            <a:ext cx="6433344" cy="3498768"/>
            <a:chOff x="0" y="0"/>
            <a:chExt cx="1995698" cy="10853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95698" cy="1085359"/>
            </a:xfrm>
            <a:custGeom>
              <a:avLst/>
              <a:gdLst/>
              <a:ahLst/>
              <a:cxnLst/>
              <a:rect r="r" b="b" t="t" l="l"/>
              <a:pathLst>
                <a:path h="1085359" w="1995698">
                  <a:moveTo>
                    <a:pt x="0" y="0"/>
                  </a:moveTo>
                  <a:lnTo>
                    <a:pt x="1995698" y="0"/>
                  </a:lnTo>
                  <a:lnTo>
                    <a:pt x="1995698" y="1085359"/>
                  </a:lnTo>
                  <a:lnTo>
                    <a:pt x="0" y="1085359"/>
                  </a:lnTo>
                  <a:close/>
                </a:path>
              </a:pathLst>
            </a:custGeom>
            <a:solidFill>
              <a:srgbClr val="FFF8D4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995698" cy="112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494005" y="847224"/>
            <a:ext cx="5629144" cy="3750417"/>
          </a:xfrm>
          <a:custGeom>
            <a:avLst/>
            <a:gdLst/>
            <a:ahLst/>
            <a:cxnLst/>
            <a:rect r="r" b="b" t="t" l="l"/>
            <a:pathLst>
              <a:path h="3750417" w="5629144">
                <a:moveTo>
                  <a:pt x="0" y="0"/>
                </a:moveTo>
                <a:lnTo>
                  <a:pt x="5629143" y="0"/>
                </a:lnTo>
                <a:lnTo>
                  <a:pt x="5629143" y="3750417"/>
                </a:lnTo>
                <a:lnTo>
                  <a:pt x="0" y="37504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0000"/>
            </a:blip>
            <a:stretch>
              <a:fillRect l="0" t="0" r="0" b="0"/>
            </a:stretch>
          </a:blipFill>
        </p:spPr>
      </p:sp>
      <p:graphicFrame>
        <p:nvGraphicFramePr>
          <p:cNvPr name="Table 6" id="6"/>
          <p:cNvGraphicFramePr>
            <a:graphicFrameLocks noGrp="true"/>
          </p:cNvGraphicFramePr>
          <p:nvPr/>
        </p:nvGraphicFramePr>
        <p:xfrm>
          <a:off x="1028700" y="5638626"/>
          <a:ext cx="7315200" cy="3095625"/>
        </p:xfrm>
        <a:graphic>
          <a:graphicData uri="http://schemas.openxmlformats.org/drawingml/2006/table">
            <a:tbl>
              <a:tblPr/>
              <a:tblGrid>
                <a:gridCol w="2438400"/>
                <a:gridCol w="2438400"/>
                <a:gridCol w="2438400"/>
              </a:tblGrid>
              <a:tr h="10318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Node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Role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Node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18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Master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Cluster Manager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Master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18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Worker1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Compute Node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Worker1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7" id="7"/>
          <p:cNvSpPr txBox="true"/>
          <p:nvPr/>
        </p:nvSpPr>
        <p:spPr>
          <a:xfrm rot="0">
            <a:off x="149854" y="709287"/>
            <a:ext cx="10624089" cy="106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000"/>
              </a:lnSpc>
            </a:pPr>
            <a:r>
              <a:rPr lang="en-US" sz="8000" spc="-112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SYSTEM ARCHITECTURE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064807"/>
            <a:ext cx="7315200" cy="345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Clus</a:t>
            </a: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ter Architecture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Master Node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↓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Worker Node 1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↓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b="true" sz="2829" spc="-141">
                <a:solidFill>
                  <a:srgbClr val="FFF8D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Worker Node 2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402175" y="-342925"/>
            <a:ext cx="3086100" cy="1083277"/>
            <a:chOff x="0" y="0"/>
            <a:chExt cx="812800" cy="28530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85308"/>
            </a:xfrm>
            <a:custGeom>
              <a:avLst/>
              <a:gdLst/>
              <a:ahLst/>
              <a:cxnLst/>
              <a:rect r="r" b="b" t="t" l="l"/>
              <a:pathLst>
                <a:path h="28530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85308"/>
                  </a:lnTo>
                  <a:lnTo>
                    <a:pt x="0" y="285308"/>
                  </a:lnTo>
                  <a:close/>
                </a:path>
              </a:pathLst>
            </a:custGeom>
            <a:solidFill>
              <a:srgbClr val="000000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12800" cy="3234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5066531" y="728279"/>
            <a:ext cx="3878694" cy="6100692"/>
            <a:chOff x="0" y="0"/>
            <a:chExt cx="1083475" cy="170416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83475" cy="1704168"/>
            </a:xfrm>
            <a:custGeom>
              <a:avLst/>
              <a:gdLst/>
              <a:ahLst/>
              <a:cxnLst/>
              <a:rect r="r" b="b" t="t" l="l"/>
              <a:pathLst>
                <a:path h="1704168" w="1083475">
                  <a:moveTo>
                    <a:pt x="0" y="0"/>
                  </a:moveTo>
                  <a:lnTo>
                    <a:pt x="1083475" y="0"/>
                  </a:lnTo>
                  <a:lnTo>
                    <a:pt x="1083475" y="1704168"/>
                  </a:lnTo>
                  <a:lnTo>
                    <a:pt x="0" y="1704168"/>
                  </a:lnTo>
                  <a:close/>
                </a:path>
              </a:pathLst>
            </a:custGeom>
            <a:solidFill>
              <a:srgbClr val="000000">
                <a:alpha val="7098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083475" cy="17422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4687558" y="5663892"/>
            <a:ext cx="3600442" cy="5400663"/>
          </a:xfrm>
          <a:custGeom>
            <a:avLst/>
            <a:gdLst/>
            <a:ahLst/>
            <a:cxnLst/>
            <a:rect r="r" b="b" t="t" l="l"/>
            <a:pathLst>
              <a:path h="5400663" w="3600442">
                <a:moveTo>
                  <a:pt x="3600442" y="0"/>
                </a:moveTo>
                <a:lnTo>
                  <a:pt x="0" y="0"/>
                </a:lnTo>
                <a:lnTo>
                  <a:pt x="0" y="5400663"/>
                </a:lnTo>
                <a:lnTo>
                  <a:pt x="3600442" y="5400663"/>
                </a:lnTo>
                <a:lnTo>
                  <a:pt x="3600442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7259300" y="6819447"/>
            <a:ext cx="3086100" cy="4097788"/>
            <a:chOff x="0" y="0"/>
            <a:chExt cx="812800" cy="107925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1079253"/>
            </a:xfrm>
            <a:custGeom>
              <a:avLst/>
              <a:gdLst/>
              <a:ahLst/>
              <a:cxnLst/>
              <a:rect r="r" b="b" t="t" l="l"/>
              <a:pathLst>
                <a:path h="107925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79253"/>
                  </a:lnTo>
                  <a:lnTo>
                    <a:pt x="0" y="1079253"/>
                  </a:lnTo>
                  <a:close/>
                </a:path>
              </a:pathLst>
            </a:custGeom>
            <a:solidFill>
              <a:srgbClr val="000000">
                <a:alpha val="70980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12800" cy="11173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0391142" y="396995"/>
            <a:ext cx="7896858" cy="5759792"/>
          </a:xfrm>
          <a:custGeom>
            <a:avLst/>
            <a:gdLst/>
            <a:ahLst/>
            <a:cxnLst/>
            <a:rect r="r" b="b" t="t" l="l"/>
            <a:pathLst>
              <a:path h="5759792" w="7896858">
                <a:moveTo>
                  <a:pt x="0" y="0"/>
                </a:moveTo>
                <a:lnTo>
                  <a:pt x="7896858" y="0"/>
                </a:lnTo>
                <a:lnTo>
                  <a:pt x="7896858" y="5759792"/>
                </a:lnTo>
                <a:lnTo>
                  <a:pt x="0" y="57597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77077" y="501770"/>
            <a:ext cx="10624089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6000" spc="-84">
                <a:solidFill>
                  <a:srgbClr val="0C0C0C"/>
                </a:solidFill>
                <a:latin typeface="Anton"/>
                <a:ea typeface="Anton"/>
                <a:cs typeface="Anton"/>
                <a:sym typeface="Anton"/>
              </a:rPr>
              <a:t>NETWORK AND SSH SETUP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77077" y="2392768"/>
            <a:ext cx="9723438" cy="6475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34"/>
              </a:lnSpc>
            </a:pPr>
            <a:r>
              <a:rPr lang="en-US" sz="3739" spc="-186" b="true">
                <a:solidFill>
                  <a:srgbClr val="0C0C0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Cluster Setup</a:t>
            </a:r>
          </a:p>
          <a:p>
            <a:pPr algn="l">
              <a:lnSpc>
                <a:spcPts val="5234"/>
              </a:lnSpc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Completed Tasks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Installed Ubuntu 24.04 on all VMs.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Configured static IP addresses.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Configured Host-Only Adapter networking.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Added hostnames and hosts file entries.</a:t>
            </a:r>
          </a:p>
          <a:p>
            <a:pPr algn="l" marL="807307" indent="-403654" lvl="1">
              <a:lnSpc>
                <a:spcPts val="5234"/>
              </a:lnSpc>
              <a:buFont typeface="Arial"/>
              <a:buChar char="•"/>
            </a:pPr>
            <a:r>
              <a:rPr lang="en-US" sz="3739" spc="-18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Enabled passwordless SSH communication.</a:t>
            </a:r>
          </a:p>
          <a:p>
            <a:pPr algn="l">
              <a:lnSpc>
                <a:spcPts val="5234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131795" y="581278"/>
            <a:ext cx="6144879" cy="2852242"/>
            <a:chOff x="0" y="0"/>
            <a:chExt cx="1751099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51099" cy="812800"/>
            </a:xfrm>
            <a:custGeom>
              <a:avLst/>
              <a:gdLst/>
              <a:ahLst/>
              <a:cxnLst/>
              <a:rect r="r" b="b" t="t" l="l"/>
              <a:pathLst>
                <a:path h="812800" w="1751099">
                  <a:moveTo>
                    <a:pt x="0" y="0"/>
                  </a:moveTo>
                  <a:lnTo>
                    <a:pt x="1751099" y="0"/>
                  </a:lnTo>
                  <a:lnTo>
                    <a:pt x="1751099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8B39A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75109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141320" y="5054278"/>
            <a:ext cx="6144879" cy="2852242"/>
            <a:chOff x="0" y="0"/>
            <a:chExt cx="1751099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51099" cy="812800"/>
            </a:xfrm>
            <a:custGeom>
              <a:avLst/>
              <a:gdLst/>
              <a:ahLst/>
              <a:cxnLst/>
              <a:rect r="r" b="b" t="t" l="l"/>
              <a:pathLst>
                <a:path h="812800" w="1751099">
                  <a:moveTo>
                    <a:pt x="0" y="0"/>
                  </a:moveTo>
                  <a:lnTo>
                    <a:pt x="1751099" y="0"/>
                  </a:lnTo>
                  <a:lnTo>
                    <a:pt x="1751099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8B39A">
                <a:alpha val="7098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75109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58776" y="352545"/>
            <a:ext cx="10624089" cy="92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999"/>
              </a:lnSpc>
            </a:pPr>
            <a:r>
              <a:rPr lang="en-US" sz="6999" spc="-97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TASK 1 – MPI CLUSTER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8776" y="1588224"/>
            <a:ext cx="16256976" cy="8377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MPI-Based</a:t>
            </a: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 Distributed Computing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Tools Used: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OpenMPI</a:t>
            </a: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mpi4py</a:t>
            </a: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Python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Cluster Resources: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3 Nodes</a:t>
            </a:r>
          </a:p>
          <a:p>
            <a:pPr algn="l" marL="645746" indent="-322873" lvl="1">
              <a:lnSpc>
                <a:spcPts val="4187"/>
              </a:lnSpc>
              <a:spcBef>
                <a:spcPct val="0"/>
              </a:spcBef>
              <a:buFont typeface="Arial"/>
              <a:buChar char="•"/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6 MPI Processes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Execution Command: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mpirun -np 6 --hostfile hostfile python3 distributed_gene_analysis.py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  <a:r>
              <a:rPr lang="en-US" sz="2990" spc="-149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Insert MPI execution screenshot.</a:t>
            </a: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  <a:p>
            <a:pPr algn="l">
              <a:lnSpc>
                <a:spcPts val="4187"/>
              </a:lnSpc>
              <a:spcBef>
                <a:spcPct val="0"/>
              </a:spcBef>
            </a:pPr>
          </a:p>
        </p:txBody>
      </p:sp>
      <p:sp>
        <p:nvSpPr>
          <p:cNvPr name="Freeform 10" id="10"/>
          <p:cNvSpPr/>
          <p:nvPr/>
        </p:nvSpPr>
        <p:spPr>
          <a:xfrm flipH="true" flipV="false" rot="0">
            <a:off x="13485024" y="1163269"/>
            <a:ext cx="9087290" cy="6060086"/>
          </a:xfrm>
          <a:custGeom>
            <a:avLst/>
            <a:gdLst/>
            <a:ahLst/>
            <a:cxnLst/>
            <a:rect r="r" b="b" t="t" l="l"/>
            <a:pathLst>
              <a:path h="6060086" w="9087290">
                <a:moveTo>
                  <a:pt x="9087290" y="0"/>
                </a:moveTo>
                <a:lnTo>
                  <a:pt x="0" y="0"/>
                </a:lnTo>
                <a:lnTo>
                  <a:pt x="0" y="6060086"/>
                </a:lnTo>
                <a:lnTo>
                  <a:pt x="9087290" y="6060086"/>
                </a:lnTo>
                <a:lnTo>
                  <a:pt x="908729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cover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8994046"/>
            <a:ext cx="1098464" cy="1152968"/>
          </a:xfrm>
          <a:custGeom>
            <a:avLst/>
            <a:gdLst/>
            <a:ahLst/>
            <a:cxnLst/>
            <a:rect r="r" b="b" t="t" l="l"/>
            <a:pathLst>
              <a:path h="1152968" w="1098464">
                <a:moveTo>
                  <a:pt x="0" y="0"/>
                </a:moveTo>
                <a:lnTo>
                  <a:pt x="1098464" y="0"/>
                </a:lnTo>
                <a:lnTo>
                  <a:pt x="1098464" y="1152968"/>
                </a:lnTo>
                <a:lnTo>
                  <a:pt x="0" y="11529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942032" y="9181952"/>
            <a:ext cx="1345968" cy="1105048"/>
          </a:xfrm>
          <a:custGeom>
            <a:avLst/>
            <a:gdLst/>
            <a:ahLst/>
            <a:cxnLst/>
            <a:rect r="r" b="b" t="t" l="l"/>
            <a:pathLst>
              <a:path h="1105048" w="1345968">
                <a:moveTo>
                  <a:pt x="0" y="0"/>
                </a:moveTo>
                <a:lnTo>
                  <a:pt x="1345968" y="0"/>
                </a:lnTo>
                <a:lnTo>
                  <a:pt x="1345968" y="1105048"/>
                </a:lnTo>
                <a:lnTo>
                  <a:pt x="0" y="110504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456959" y="2039072"/>
            <a:ext cx="8738791" cy="6269045"/>
          </a:xfrm>
          <a:custGeom>
            <a:avLst/>
            <a:gdLst/>
            <a:ahLst/>
            <a:cxnLst/>
            <a:rect r="r" b="b" t="t" l="l"/>
            <a:pathLst>
              <a:path h="6269045" w="8738791">
                <a:moveTo>
                  <a:pt x="0" y="0"/>
                </a:moveTo>
                <a:lnTo>
                  <a:pt x="8738791" y="0"/>
                </a:lnTo>
                <a:lnTo>
                  <a:pt x="8738791" y="6269045"/>
                </a:lnTo>
                <a:lnTo>
                  <a:pt x="0" y="626904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129" r="0" b="-1129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04520" y="271945"/>
            <a:ext cx="10624089" cy="106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000"/>
              </a:lnSpc>
            </a:pPr>
            <a:r>
              <a:rPr lang="en-US" sz="8000" spc="-112">
                <a:solidFill>
                  <a:srgbClr val="0C0C0C"/>
                </a:solidFill>
                <a:latin typeface="Anton"/>
                <a:ea typeface="Anton"/>
                <a:cs typeface="Anton"/>
                <a:sym typeface="Anton"/>
              </a:rPr>
              <a:t>MPI RESULTS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1253" y="1981922"/>
            <a:ext cx="8760815" cy="7012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0"/>
              </a:lnSpc>
              <a:spcBef>
                <a:spcPct val="0"/>
              </a:spcBef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Distributed</a:t>
            </a: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 Processing Results</a:t>
            </a:r>
          </a:p>
          <a:p>
            <a:pPr algn="l">
              <a:lnSpc>
                <a:spcPts val="4660"/>
              </a:lnSpc>
              <a:spcBef>
                <a:spcPct val="0"/>
              </a:spcBef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Workload was distributed across six MPI processes.</a:t>
            </a:r>
          </a:p>
          <a:p>
            <a:pPr algn="l">
              <a:lnSpc>
                <a:spcPts val="4660"/>
              </a:lnSpc>
              <a:spcBef>
                <a:spcPct val="0"/>
              </a:spcBef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Benefits: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Parallel execution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Faster processing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Efficient resource utilization</a:t>
            </a:r>
          </a:p>
          <a:p>
            <a:pPr algn="l">
              <a:lnSpc>
                <a:spcPts val="4660"/>
              </a:lnSpc>
              <a:spcBef>
                <a:spcPct val="0"/>
              </a:spcBef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Results: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Successful execution across all nodes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Correct process communication</a:t>
            </a:r>
          </a:p>
          <a:p>
            <a:pPr algn="l" marL="718752" indent="-359376" lvl="1">
              <a:lnSpc>
                <a:spcPts val="4660"/>
              </a:lnSpc>
              <a:spcBef>
                <a:spcPct val="0"/>
              </a:spcBef>
              <a:buFont typeface="Arial"/>
              <a:buChar char="•"/>
            </a:pPr>
            <a:r>
              <a:rPr lang="en-US" sz="3329" spc="-166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Reduced execution time</a:t>
            </a:r>
          </a:p>
          <a:p>
            <a:pPr algn="l">
              <a:lnSpc>
                <a:spcPts val="466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332471" y="5669154"/>
            <a:ext cx="1853658" cy="2002971"/>
          </a:xfrm>
          <a:custGeom>
            <a:avLst/>
            <a:gdLst/>
            <a:ahLst/>
            <a:cxnLst/>
            <a:rect r="r" b="b" t="t" l="l"/>
            <a:pathLst>
              <a:path h="2002971" w="1853658">
                <a:moveTo>
                  <a:pt x="0" y="0"/>
                </a:moveTo>
                <a:lnTo>
                  <a:pt x="1853658" y="0"/>
                </a:lnTo>
                <a:lnTo>
                  <a:pt x="1853658" y="2002971"/>
                </a:lnTo>
                <a:lnTo>
                  <a:pt x="0" y="20029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05265" y="8081783"/>
            <a:ext cx="2167679" cy="1998206"/>
          </a:xfrm>
          <a:custGeom>
            <a:avLst/>
            <a:gdLst/>
            <a:ahLst/>
            <a:cxnLst/>
            <a:rect r="r" b="b" t="t" l="l"/>
            <a:pathLst>
              <a:path h="1998206" w="2167679">
                <a:moveTo>
                  <a:pt x="0" y="0"/>
                </a:moveTo>
                <a:lnTo>
                  <a:pt x="2167679" y="0"/>
                </a:lnTo>
                <a:lnTo>
                  <a:pt x="2167679" y="1998206"/>
                </a:lnTo>
                <a:lnTo>
                  <a:pt x="0" y="1998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5166" y="8227931"/>
            <a:ext cx="1967069" cy="2060739"/>
          </a:xfrm>
          <a:custGeom>
            <a:avLst/>
            <a:gdLst/>
            <a:ahLst/>
            <a:cxnLst/>
            <a:rect r="r" b="b" t="t" l="l"/>
            <a:pathLst>
              <a:path h="2060739" w="1967069">
                <a:moveTo>
                  <a:pt x="0" y="0"/>
                </a:moveTo>
                <a:lnTo>
                  <a:pt x="1967068" y="0"/>
                </a:lnTo>
                <a:lnTo>
                  <a:pt x="1967068" y="2060738"/>
                </a:lnTo>
                <a:lnTo>
                  <a:pt x="0" y="20607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672944" y="7874772"/>
            <a:ext cx="3615056" cy="2412228"/>
          </a:xfrm>
          <a:custGeom>
            <a:avLst/>
            <a:gdLst/>
            <a:ahLst/>
            <a:cxnLst/>
            <a:rect r="r" b="b" t="t" l="l"/>
            <a:pathLst>
              <a:path h="2412228" w="3615056">
                <a:moveTo>
                  <a:pt x="0" y="0"/>
                </a:moveTo>
                <a:lnTo>
                  <a:pt x="3615056" y="0"/>
                </a:lnTo>
                <a:lnTo>
                  <a:pt x="3615056" y="2412228"/>
                </a:lnTo>
                <a:lnTo>
                  <a:pt x="0" y="241222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54516" y="545234"/>
            <a:ext cx="10624089" cy="92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999"/>
              </a:lnSpc>
            </a:pPr>
            <a:r>
              <a:rPr lang="en-US" sz="6999" spc="-97">
                <a:solidFill>
                  <a:srgbClr val="0C0C0C"/>
                </a:solidFill>
                <a:latin typeface="Anton"/>
                <a:ea typeface="Anton"/>
                <a:cs typeface="Anton"/>
                <a:sym typeface="Anton"/>
              </a:rPr>
              <a:t>TASK 2 – SPARK CLUSTER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22239" y="1716975"/>
            <a:ext cx="11950749" cy="6056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6"/>
              </a:lnSpc>
              <a:spcBef>
                <a:spcPct val="0"/>
              </a:spcBef>
            </a:pPr>
            <a:r>
              <a:rPr lang="en-US" b="true" sz="2683" spc="-134">
                <a:solidFill>
                  <a:srgbClr val="0C0C0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Hybrid HPC + Big D</a:t>
            </a:r>
            <a:r>
              <a:rPr lang="en-US" b="true" sz="2683" spc="-134">
                <a:solidFill>
                  <a:srgbClr val="0C0C0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ata Cluster</a:t>
            </a:r>
          </a:p>
          <a:p>
            <a:pPr algn="l">
              <a:lnSpc>
                <a:spcPts val="3756"/>
              </a:lnSpc>
              <a:spcBef>
                <a:spcPct val="0"/>
              </a:spcBef>
            </a:pPr>
          </a:p>
          <a:p>
            <a:pPr algn="l">
              <a:lnSpc>
                <a:spcPts val="3756"/>
              </a:lnSpc>
              <a:spcBef>
                <a:spcPct val="0"/>
              </a:spcBef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Technologies: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Docker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Docker Swarm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Apache Spark</a:t>
            </a:r>
          </a:p>
          <a:p>
            <a:pPr algn="l">
              <a:lnSpc>
                <a:spcPts val="3756"/>
              </a:lnSpc>
              <a:spcBef>
                <a:spcPct val="0"/>
              </a:spcBef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Cluster Components: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Spark Master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Spark Worker 1</a:t>
            </a:r>
          </a:p>
          <a:p>
            <a:pPr algn="l" marL="579356" indent="-289678" lvl="1">
              <a:lnSpc>
                <a:spcPts val="3756"/>
              </a:lnSpc>
              <a:spcBef>
                <a:spcPct val="0"/>
              </a:spcBef>
              <a:buFont typeface="Arial"/>
              <a:buChar char="•"/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Spark Worker 2</a:t>
            </a:r>
          </a:p>
          <a:p>
            <a:pPr algn="l">
              <a:lnSpc>
                <a:spcPts val="3756"/>
              </a:lnSpc>
              <a:spcBef>
                <a:spcPct val="0"/>
              </a:spcBef>
            </a:pPr>
            <a:r>
              <a:rPr lang="en-US" sz="2683" spc="-134">
                <a:solidFill>
                  <a:srgbClr val="0C0C0C"/>
                </a:solidFill>
                <a:latin typeface="Montserrat"/>
                <a:ea typeface="Montserrat"/>
                <a:cs typeface="Montserrat"/>
                <a:sym typeface="Montserrat"/>
              </a:rPr>
              <a:t>The cluster was deployed successfully and workers were registered through Spark Web UI.</a:t>
            </a:r>
          </a:p>
          <a:p>
            <a:pPr algn="l">
              <a:lnSpc>
                <a:spcPts val="3756"/>
              </a:lnSpc>
              <a:spcBef>
                <a:spcPct val="0"/>
              </a:spcBef>
            </a:pPr>
          </a:p>
        </p:txBody>
      </p:sp>
      <p:grpSp>
        <p:nvGrpSpPr>
          <p:cNvPr name="Group 8" id="8"/>
          <p:cNvGrpSpPr/>
          <p:nvPr/>
        </p:nvGrpSpPr>
        <p:grpSpPr>
          <a:xfrm rot="0">
            <a:off x="15921057" y="-2231183"/>
            <a:ext cx="2005139" cy="6330707"/>
            <a:chOff x="0" y="0"/>
            <a:chExt cx="528102" cy="166734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28103" cy="1667347"/>
            </a:xfrm>
            <a:custGeom>
              <a:avLst/>
              <a:gdLst/>
              <a:ahLst/>
              <a:cxnLst/>
              <a:rect r="r" b="b" t="t" l="l"/>
              <a:pathLst>
                <a:path h="1667347" w="528103">
                  <a:moveTo>
                    <a:pt x="0" y="0"/>
                  </a:moveTo>
                  <a:lnTo>
                    <a:pt x="528103" y="0"/>
                  </a:lnTo>
                  <a:lnTo>
                    <a:pt x="528103" y="1667347"/>
                  </a:lnTo>
                  <a:lnTo>
                    <a:pt x="0" y="1667347"/>
                  </a:lnTo>
                  <a:close/>
                </a:path>
              </a:pathLst>
            </a:custGeom>
            <a:solidFill>
              <a:srgbClr val="0C0C0C">
                <a:alpha val="70980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28102" cy="17054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99"/>
                </a:lnSpc>
              </a:pPr>
            </a:p>
          </p:txBody>
        </p:sp>
      </p:grpSp>
    </p:spTree>
  </p:cSld>
  <p:clrMapOvr>
    <a:masterClrMapping/>
  </p:clrMapOvr>
  <p:transition spd="slow">
    <p:cover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131795" y="581278"/>
            <a:ext cx="6144879" cy="2852242"/>
            <a:chOff x="0" y="0"/>
            <a:chExt cx="1751099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51099" cy="812800"/>
            </a:xfrm>
            <a:custGeom>
              <a:avLst/>
              <a:gdLst/>
              <a:ahLst/>
              <a:cxnLst/>
              <a:rect r="r" b="b" t="t" l="l"/>
              <a:pathLst>
                <a:path h="812800" w="1751099">
                  <a:moveTo>
                    <a:pt x="0" y="0"/>
                  </a:moveTo>
                  <a:lnTo>
                    <a:pt x="1751099" y="0"/>
                  </a:lnTo>
                  <a:lnTo>
                    <a:pt x="1751099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8B39A">
                <a:alpha val="7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75109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141320" y="5054278"/>
            <a:ext cx="6144879" cy="2852242"/>
            <a:chOff x="0" y="0"/>
            <a:chExt cx="1751099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51099" cy="812800"/>
            </a:xfrm>
            <a:custGeom>
              <a:avLst/>
              <a:gdLst/>
              <a:ahLst/>
              <a:cxnLst/>
              <a:rect r="r" b="b" t="t" l="l"/>
              <a:pathLst>
                <a:path h="812800" w="1751099">
                  <a:moveTo>
                    <a:pt x="0" y="0"/>
                  </a:moveTo>
                  <a:lnTo>
                    <a:pt x="1751099" y="0"/>
                  </a:lnTo>
                  <a:lnTo>
                    <a:pt x="1751099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B8B39A">
                <a:alpha val="7098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75109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694234" y="733678"/>
            <a:ext cx="10624089" cy="1060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8000"/>
              </a:lnSpc>
            </a:pPr>
            <a:r>
              <a:rPr lang="en-US" sz="8000" spc="-112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BIOINFORMATICS ANALYSIS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2205388"/>
            <a:ext cx="9368312" cy="7306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Gene Expression Analysis</a:t>
            </a:r>
          </a:p>
          <a:p>
            <a:pPr algn="l">
              <a:lnSpc>
                <a:spcPts val="4619"/>
              </a:lnSpc>
            </a:pP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Dataset:</a:t>
            </a:r>
          </a:p>
          <a:p>
            <a:pPr algn="l">
              <a:lnSpc>
                <a:spcPts val="4619"/>
              </a:lnSpc>
            </a:pP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leukemia_expression.csv</a:t>
            </a: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Framework:</a:t>
            </a: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PySpark ML</a:t>
            </a:r>
          </a:p>
          <a:p>
            <a:pPr algn="l">
              <a:lnSpc>
                <a:spcPts val="4619"/>
              </a:lnSpc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Tasks Performed:</a:t>
            </a:r>
          </a:p>
          <a:p>
            <a:pPr algn="l" marL="712462" indent="-356231" lvl="1">
              <a:lnSpc>
                <a:spcPts val="4619"/>
              </a:lnSpc>
              <a:buFont typeface="Arial"/>
              <a:buChar char="•"/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Data loading</a:t>
            </a:r>
          </a:p>
          <a:p>
            <a:pPr algn="l" marL="712462" indent="-356231" lvl="1">
              <a:lnSpc>
                <a:spcPts val="4619"/>
              </a:lnSpc>
              <a:buFont typeface="Arial"/>
              <a:buChar char="•"/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Distributed processing</a:t>
            </a:r>
          </a:p>
          <a:p>
            <a:pPr algn="l" marL="712462" indent="-356231" lvl="1">
              <a:lnSpc>
                <a:spcPts val="4619"/>
              </a:lnSpc>
              <a:buFont typeface="Arial"/>
              <a:buChar char="•"/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Machine learning analysis</a:t>
            </a:r>
          </a:p>
          <a:p>
            <a:pPr algn="l" marL="712462" indent="-356231" lvl="1">
              <a:lnSpc>
                <a:spcPts val="4619"/>
              </a:lnSpc>
              <a:buFont typeface="Arial"/>
              <a:buChar char="•"/>
            </a:pPr>
            <a:r>
              <a:rPr lang="en-US" sz="3299" spc="-164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Classification workflow</a:t>
            </a:r>
          </a:p>
          <a:p>
            <a:pPr algn="l">
              <a:lnSpc>
                <a:spcPts val="2659"/>
              </a:lnSpc>
              <a:spcBef>
                <a:spcPct val="0"/>
              </a:spcBef>
            </a:pPr>
          </a:p>
        </p:txBody>
      </p:sp>
      <p:sp>
        <p:nvSpPr>
          <p:cNvPr name="Freeform 10" id="10"/>
          <p:cNvSpPr/>
          <p:nvPr/>
        </p:nvSpPr>
        <p:spPr>
          <a:xfrm flipH="true" flipV="false" rot="0">
            <a:off x="13485024" y="1163269"/>
            <a:ext cx="9087290" cy="6060086"/>
          </a:xfrm>
          <a:custGeom>
            <a:avLst/>
            <a:gdLst/>
            <a:ahLst/>
            <a:cxnLst/>
            <a:rect r="r" b="b" t="t" l="l"/>
            <a:pathLst>
              <a:path h="6060086" w="9087290">
                <a:moveTo>
                  <a:pt x="9087290" y="0"/>
                </a:moveTo>
                <a:lnTo>
                  <a:pt x="0" y="0"/>
                </a:lnTo>
                <a:lnTo>
                  <a:pt x="0" y="6060086"/>
                </a:lnTo>
                <a:lnTo>
                  <a:pt x="9087290" y="6060086"/>
                </a:lnTo>
                <a:lnTo>
                  <a:pt x="908729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cover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6887891" y="5663855"/>
            <a:ext cx="9087290" cy="6060086"/>
          </a:xfrm>
          <a:custGeom>
            <a:avLst/>
            <a:gdLst/>
            <a:ahLst/>
            <a:cxnLst/>
            <a:rect r="r" b="b" t="t" l="l"/>
            <a:pathLst>
              <a:path h="6060086" w="9087290">
                <a:moveTo>
                  <a:pt x="9087290" y="0"/>
                </a:moveTo>
                <a:lnTo>
                  <a:pt x="0" y="0"/>
                </a:lnTo>
                <a:lnTo>
                  <a:pt x="0" y="6060086"/>
                </a:lnTo>
                <a:lnTo>
                  <a:pt x="9087290" y="6060086"/>
                </a:lnTo>
                <a:lnTo>
                  <a:pt x="908729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379441" y="2190156"/>
            <a:ext cx="8124288" cy="5906689"/>
          </a:xfrm>
          <a:custGeom>
            <a:avLst/>
            <a:gdLst/>
            <a:ahLst/>
            <a:cxnLst/>
            <a:rect r="r" b="b" t="t" l="l"/>
            <a:pathLst>
              <a:path h="5906689" w="8124288">
                <a:moveTo>
                  <a:pt x="0" y="0"/>
                </a:moveTo>
                <a:lnTo>
                  <a:pt x="8124288" y="0"/>
                </a:lnTo>
                <a:lnTo>
                  <a:pt x="8124288" y="5906688"/>
                </a:lnTo>
                <a:lnTo>
                  <a:pt x="0" y="59066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6397" y="978004"/>
            <a:ext cx="10624089" cy="1209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9000"/>
              </a:lnSpc>
            </a:pPr>
            <a:r>
              <a:rPr lang="en-US" sz="9000" spc="-126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SPARK RESULTS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96397" y="2492275"/>
            <a:ext cx="10233006" cy="4101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0"/>
              </a:lnSpc>
              <a:spcBef>
                <a:spcPct val="0"/>
              </a:spcBef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C</a:t>
            </a: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luster Resources: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2 Worker Nodes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4 CPU Cores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4 GB RAM</a:t>
            </a:r>
          </a:p>
          <a:p>
            <a:pPr algn="l">
              <a:lnSpc>
                <a:spcPts val="3670"/>
              </a:lnSpc>
              <a:spcBef>
                <a:spcPct val="0"/>
              </a:spcBef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Achievements: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Successful worker registration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Distributed execution completed</a:t>
            </a:r>
          </a:p>
          <a:p>
            <a:pPr algn="l" marL="565983" indent="-282991" lvl="1">
              <a:lnSpc>
                <a:spcPts val="3670"/>
              </a:lnSpc>
              <a:spcBef>
                <a:spcPct val="0"/>
              </a:spcBef>
              <a:buFont typeface="Arial"/>
              <a:buChar char="•"/>
            </a:pPr>
            <a:r>
              <a:rPr lang="en-US" sz="2621" spc="-131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Gene expression analysis performed successfully</a:t>
            </a:r>
          </a:p>
          <a:p>
            <a:pPr algn="l">
              <a:lnSpc>
                <a:spcPts val="367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cover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169027"/>
            <a:ext cx="10624089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000"/>
              </a:lnSpc>
            </a:pPr>
            <a:r>
              <a:rPr lang="en-US" sz="5000" spc="-70">
                <a:solidFill>
                  <a:srgbClr val="FFF8D4">
                    <a:alpha val="70980"/>
                  </a:srgbClr>
                </a:solidFill>
                <a:latin typeface="Anton"/>
                <a:ea typeface="Anton"/>
                <a:cs typeface="Anton"/>
                <a:sym typeface="Anton"/>
              </a:rPr>
              <a:t>CHALLENGES ENCOUNTERED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5963824" y="7767519"/>
            <a:ext cx="2324176" cy="1884696"/>
          </a:xfrm>
          <a:custGeom>
            <a:avLst/>
            <a:gdLst/>
            <a:ahLst/>
            <a:cxnLst/>
            <a:rect r="r" b="b" t="t" l="l"/>
            <a:pathLst>
              <a:path h="1884696" w="2324176">
                <a:moveTo>
                  <a:pt x="0" y="0"/>
                </a:moveTo>
                <a:lnTo>
                  <a:pt x="2324176" y="0"/>
                </a:lnTo>
                <a:lnTo>
                  <a:pt x="2324176" y="1884696"/>
                </a:lnTo>
                <a:lnTo>
                  <a:pt x="0" y="18846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542918" y="2838952"/>
          <a:ext cx="8601082" cy="6496050"/>
        </p:xfrm>
        <a:graphic>
          <a:graphicData uri="http://schemas.openxmlformats.org/drawingml/2006/table">
            <a:tbl>
              <a:tblPr/>
              <a:tblGrid>
                <a:gridCol w="5201589"/>
                <a:gridCol w="3399493"/>
              </a:tblGrid>
              <a:tr h="102518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Network communication issues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FFFFFF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Configured static IPs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518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SSH connection refused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Enabled SSH service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518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MPI package errors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Installed dependencies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016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Docker startup failure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Removed conflicting installation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016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Spark worker connection failure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Updated firewall and networking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016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PySpark dependency issues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Installed packages inside containers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5" id="5"/>
          <p:cNvSpPr txBox="true"/>
          <p:nvPr/>
        </p:nvSpPr>
        <p:spPr>
          <a:xfrm rot="0">
            <a:off x="742331" y="864863"/>
            <a:ext cx="10624089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000"/>
              </a:lnSpc>
            </a:pPr>
            <a:r>
              <a:rPr lang="en-US" sz="6000" spc="-84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CHALLENGES AND SOLUTIONS</a:t>
            </a:r>
          </a:p>
        </p:txBody>
      </p:sp>
    </p:spTree>
  </p:cSld>
  <p:clrMapOvr>
    <a:masterClrMapping/>
  </p:clrMapOvr>
  <p:transition spd="slow">
    <p:cover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0515" y="-266321"/>
            <a:ext cx="3086100" cy="11322717"/>
            <a:chOff x="0" y="0"/>
            <a:chExt cx="812800" cy="29821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982115"/>
            </a:xfrm>
            <a:custGeom>
              <a:avLst/>
              <a:gdLst/>
              <a:ahLst/>
              <a:cxnLst/>
              <a:rect r="r" b="b" t="t" l="l"/>
              <a:pathLst>
                <a:path h="2982115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2982115"/>
                  </a:lnTo>
                  <a:lnTo>
                    <a:pt x="0" y="2982115"/>
                  </a:lnTo>
                  <a:close/>
                </a:path>
              </a:pathLst>
            </a:custGeom>
            <a:solidFill>
              <a:srgbClr val="FFF8D4">
                <a:alpha val="62745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12800" cy="30202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557894" y="-1198743"/>
            <a:ext cx="7821455" cy="11721527"/>
          </a:xfrm>
          <a:custGeom>
            <a:avLst/>
            <a:gdLst/>
            <a:ahLst/>
            <a:cxnLst/>
            <a:rect r="r" b="b" t="t" l="l"/>
            <a:pathLst>
              <a:path h="11721527" w="7821455">
                <a:moveTo>
                  <a:pt x="0" y="0"/>
                </a:moveTo>
                <a:lnTo>
                  <a:pt x="7821455" y="0"/>
                </a:lnTo>
                <a:lnTo>
                  <a:pt x="7821455" y="11721526"/>
                </a:lnTo>
                <a:lnTo>
                  <a:pt x="0" y="117215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3281120"/>
            <a:ext cx="7639050" cy="6265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Thi</a:t>
            </a: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s project successfully implemented: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A traditional HPC cluster using MPI.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A Hyb</a:t>
            </a: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rid HPC–Big Data cluster using Spark.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Di</a:t>
            </a: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stributed machine learning workflows.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Bioinformatics gene expression analysis.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The project provided practical experience in: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HPC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Distributed Computing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Apache Spark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Docker Swarm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Machine Learning</a:t>
            </a:r>
          </a:p>
          <a:p>
            <a:pPr algn="just" marL="431801" indent="-215900" lvl="1">
              <a:lnSpc>
                <a:spcPts val="3840"/>
              </a:lnSpc>
              <a:buFont typeface="Arial"/>
              <a:buChar char="•"/>
            </a:pPr>
            <a:r>
              <a:rPr lang="en-US" sz="2000" spc="-100">
                <a:solidFill>
                  <a:srgbClr val="FFF8D4"/>
                </a:solidFill>
                <a:latin typeface="Montserrat"/>
                <a:ea typeface="Montserrat"/>
                <a:cs typeface="Montserrat"/>
                <a:sym typeface="Montserrat"/>
              </a:rPr>
              <a:t>Bioinformatics</a:t>
            </a:r>
          </a:p>
          <a:p>
            <a:pPr algn="just">
              <a:lnSpc>
                <a:spcPts val="3840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554516" y="928442"/>
            <a:ext cx="10624089" cy="1871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4039"/>
              </a:lnSpc>
            </a:pPr>
            <a:r>
              <a:rPr lang="en-US" sz="14039" spc="-196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CONCLUSION</a:t>
            </a:r>
          </a:p>
        </p:txBody>
      </p:sp>
    </p:spTree>
  </p:cSld>
  <p:clrMapOvr>
    <a:masterClrMapping/>
  </p:clrMapOvr>
  <p:transition spd="slow">
    <p:cover dir="l"/>
  </p:transition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39360" y="3949913"/>
            <a:ext cx="9812133" cy="2410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011"/>
              </a:lnSpc>
            </a:pPr>
            <a:r>
              <a:rPr lang="en-US" sz="18011" spc="270">
                <a:solidFill>
                  <a:srgbClr val="FFF8D4"/>
                </a:solidFill>
                <a:latin typeface="Anton"/>
                <a:ea typeface="Anton"/>
                <a:cs typeface="Anton"/>
                <a:sym typeface="Anton"/>
              </a:rPr>
              <a:t>THANK YOU</a:t>
            </a:r>
          </a:p>
        </p:txBody>
      </p:sp>
    </p:spTree>
  </p:cSld>
  <p:clrMapOvr>
    <a:masterClrMapping/>
  </p:clrMapOvr>
  <p:transition spd="slow">
    <p:cover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DAHLoCuWkU4</dc:identifier>
  <dcterms:modified xsi:type="dcterms:W3CDTF">2011-08-01T06:04:30Z</dcterms:modified>
  <cp:revision>1</cp:revision>
  <dc:title>Black and Yellow Typographic Data Analyst Presentation</dc:title>
</cp:coreProperties>
</file>